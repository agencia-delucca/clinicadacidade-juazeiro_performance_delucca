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3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365760"/>
            <a:ext cx="5120640" cy="5120640"/>
          </a:xfrm>
          <a:prstGeom prst="ellipse">
            <a:avLst/>
          </a:prstGeom>
          <a:solidFill>
            <a:srgbClr val="0642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280160"/>
            <a:ext cx="3291840" cy="3291840"/>
          </a:xfrm>
          <a:prstGeom prst="ellipse">
            <a:avLst/>
          </a:prstGeom>
          <a:solidFill>
            <a:srgbClr val="084A52"/>
          </a:solidFill>
          <a:ln/>
        </p:spPr>
      </p:sp>
      <p:sp>
        <p:nvSpPr>
          <p:cNvPr id="4" name="Shape 2"/>
          <p:cNvSpPr/>
          <p:nvPr/>
        </p:nvSpPr>
        <p:spPr>
          <a:xfrm rot="8100000">
            <a:off x="9464040" y="1691640"/>
            <a:ext cx="1371600" cy="1371600"/>
          </a:xfrm>
          <a:prstGeom prst="teardrop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 rot="8100000">
            <a:off x="10972800" y="3063240"/>
            <a:ext cx="868680" cy="868680"/>
          </a:xfrm>
          <a:prstGeom prst="teardrop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 rot="8100000">
            <a:off x="8732520" y="3291840"/>
            <a:ext cx="640080" cy="640080"/>
          </a:xfrm>
          <a:prstGeom prst="teardrop">
            <a:avLst/>
          </a:prstGeom>
          <a:solidFill>
            <a:srgbClr val="3F7F86"/>
          </a:solidFill>
          <a:ln/>
        </p:spPr>
      </p:sp>
      <p:sp>
        <p:nvSpPr>
          <p:cNvPr id="7" name="Shape 5"/>
          <p:cNvSpPr/>
          <p:nvPr/>
        </p:nvSpPr>
        <p:spPr>
          <a:xfrm>
            <a:off x="9829800" y="3310128"/>
            <a:ext cx="640080" cy="146304"/>
          </a:xfrm>
          <a:prstGeom prst="ellipse">
            <a:avLst/>
          </a:prstGeom>
          <a:solidFill>
            <a:srgbClr val="022B3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3968" y="4087368"/>
            <a:ext cx="457200" cy="109728"/>
          </a:xfrm>
          <a:prstGeom prst="ellipse">
            <a:avLst/>
          </a:prstGeom>
          <a:solidFill>
            <a:srgbClr val="022B31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0" y="4041648"/>
            <a:ext cx="365760" cy="91440"/>
          </a:xfrm>
          <a:prstGeom prst="ellipse">
            <a:avLst/>
          </a:prstGeom>
          <a:solidFill>
            <a:srgbClr val="022B3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DELUCCA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" y="160020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 de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Localizações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85800" y="37033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B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 impactando — e onde não estamos —</a:t>
            </a:r>
            <a:endParaRPr lang="en-US" sz="16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B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Meta Ads e Google Ads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85800" y="4800600"/>
            <a:ext cx="2971800" cy="658368"/>
          </a:xfrm>
          <a:prstGeom prst="roundRect">
            <a:avLst>
              <a:gd name="adj" fmla="val 19444"/>
            </a:avLst>
          </a:prstGeom>
          <a:solidFill>
            <a:srgbClr val="0A4A52"/>
          </a:solidFill>
          <a:ln/>
        </p:spPr>
      </p:sp>
      <p:sp>
        <p:nvSpPr>
          <p:cNvPr id="14" name="Shape 12"/>
          <p:cNvSpPr/>
          <p:nvPr/>
        </p:nvSpPr>
        <p:spPr>
          <a:xfrm>
            <a:off x="896112" y="5056632"/>
            <a:ext cx="146304" cy="146304"/>
          </a:xfrm>
          <a:prstGeom prst="ellipse">
            <a:avLst/>
          </a:prstGeom>
          <a:solidFill>
            <a:srgbClr val="1877F2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48006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pPr indent="0" marL="0">
              <a:buNone/>
            </a:pPr>
            <a:r>
              <a:rPr lang="en-US" sz="1350" dirty="0">
                <a:solidFill>
                  <a:srgbClr val="B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 cidades ativas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886200" y="4800600"/>
            <a:ext cx="3200400" cy="658368"/>
          </a:xfrm>
          <a:prstGeom prst="roundRect">
            <a:avLst>
              <a:gd name="adj" fmla="val 19444"/>
            </a:avLst>
          </a:prstGeom>
          <a:solidFill>
            <a:srgbClr val="0A4A52"/>
          </a:solidFill>
          <a:ln/>
        </p:spPr>
      </p:sp>
      <p:sp>
        <p:nvSpPr>
          <p:cNvPr id="17" name="Shape 15"/>
          <p:cNvSpPr/>
          <p:nvPr/>
        </p:nvSpPr>
        <p:spPr>
          <a:xfrm>
            <a:off x="4078224" y="5074920"/>
            <a:ext cx="109728" cy="10972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8" name="Shape 16"/>
          <p:cNvSpPr/>
          <p:nvPr/>
        </p:nvSpPr>
        <p:spPr>
          <a:xfrm>
            <a:off x="4215384" y="5074920"/>
            <a:ext cx="109728" cy="10972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9" name="Shape 17"/>
          <p:cNvSpPr/>
          <p:nvPr/>
        </p:nvSpPr>
        <p:spPr>
          <a:xfrm>
            <a:off x="4352544" y="5074920"/>
            <a:ext cx="109728" cy="109728"/>
          </a:xfrm>
          <a:prstGeom prst="ellipse">
            <a:avLst/>
          </a:prstGeom>
          <a:solidFill>
            <a:srgbClr val="FBBC05"/>
          </a:solidFill>
          <a:ln/>
        </p:spPr>
      </p:sp>
      <p:sp>
        <p:nvSpPr>
          <p:cNvPr id="20" name="Shape 18"/>
          <p:cNvSpPr/>
          <p:nvPr/>
        </p:nvSpPr>
        <p:spPr>
          <a:xfrm>
            <a:off x="4489704" y="5074920"/>
            <a:ext cx="109728" cy="10972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1" name="Text 19"/>
          <p:cNvSpPr/>
          <p:nvPr/>
        </p:nvSpPr>
        <p:spPr>
          <a:xfrm>
            <a:off x="4681728" y="48006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pPr indent="0" marL="0">
              <a:buNone/>
            </a:pPr>
            <a:r>
              <a:rPr lang="en-US" sz="1350" dirty="0">
                <a:solidFill>
                  <a:srgbClr val="B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 cidades ativas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580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da Cidade — Juazeiro do Norte/CE      06 de agosto de 2026      Fonte: APIs oficiais Meta e Google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" y="603504"/>
            <a:ext cx="128016" cy="128016"/>
          </a:xfrm>
          <a:prstGeom prst="ellipse">
            <a:avLst/>
          </a:prstGeom>
          <a:solidFill>
            <a:srgbClr val="1877F2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" y="4754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87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Localizações ativas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14996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 IMPACTANDO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743200" cy="1353312"/>
          </a:xfrm>
          <a:prstGeom prst="roundRect">
            <a:avLst>
              <a:gd name="adj" fmla="val 8108"/>
            </a:avLst>
          </a:prstGeom>
          <a:solidFill>
            <a:srgbClr val="EAF4F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20240"/>
            <a:ext cx="1051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1874520" y="1975104"/>
            <a:ext cx="1417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ativas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364992"/>
            <a:ext cx="2743200" cy="1353312"/>
          </a:xfrm>
          <a:prstGeom prst="roundRect">
            <a:avLst>
              <a:gd name="adj" fmla="val 8108"/>
            </a:avLst>
          </a:prstGeom>
          <a:solidFill>
            <a:srgbClr val="EAF4F4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56432"/>
            <a:ext cx="1051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1874520" y="3511296"/>
            <a:ext cx="1417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 de anúncios em veiculação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2743200" cy="1353312"/>
          </a:xfrm>
          <a:prstGeom prst="roundRect">
            <a:avLst>
              <a:gd name="adj" fmla="val 8108"/>
            </a:avLst>
          </a:prstGeom>
          <a:solidFill>
            <a:srgbClr val="EA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992624"/>
            <a:ext cx="1051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1874520" y="5047488"/>
            <a:ext cx="1417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cidades do Cariri cearense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703320" y="1828800"/>
            <a:ext cx="3822192" cy="1353312"/>
          </a:xfrm>
          <a:prstGeom prst="roundRect">
            <a:avLst>
              <a:gd name="adj" fmla="val 8108"/>
            </a:avLst>
          </a:prstGeom>
          <a:solidFill>
            <a:srgbClr val="E9F1FE"/>
          </a:solidFill>
          <a:ln w="19050">
            <a:solidFill>
              <a:srgbClr val="1877F2"/>
            </a:solidFill>
            <a:prstDash val="solid"/>
          </a:ln>
          <a:effectLst>
            <a:outerShdw sx="100000" sy="100000" kx="0" ky="0" algn="bl" rotWithShape="0" blurRad="88900" dist="25400" dir="5400000">
              <a:srgbClr val="7E9899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 rot="8100000">
            <a:off x="3941064" y="2048256"/>
            <a:ext cx="310896" cy="310896"/>
          </a:xfrm>
          <a:prstGeom prst="teardrop">
            <a:avLst/>
          </a:prstGeom>
          <a:solidFill>
            <a:srgbClr val="1877F2"/>
          </a:solidFill>
          <a:ln/>
        </p:spPr>
      </p:sp>
      <p:sp>
        <p:nvSpPr>
          <p:cNvPr id="18" name="Text 16"/>
          <p:cNvSpPr/>
          <p:nvPr/>
        </p:nvSpPr>
        <p:spPr>
          <a:xfrm>
            <a:off x="4416552" y="19751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Juazeiro do Norte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416552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Ceará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959352" y="263347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0B4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da clínica · raio extra de 40 km no conjunto de Ultrassom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26680" y="1828800"/>
            <a:ext cx="3822192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88900" dist="25400" dir="5400000">
              <a:srgbClr val="7E9899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 rot="8100000">
            <a:off x="7964424" y="2048256"/>
            <a:ext cx="310896" cy="310896"/>
          </a:xfrm>
          <a:prstGeom prst="teardrop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8439912" y="19751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 Velha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439912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Ceará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82712" y="263347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em todos os conjuntos ativos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03320" y="3364992"/>
            <a:ext cx="3822192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88900" dist="25400" dir="5400000">
              <a:srgbClr val="7E9899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 rot="8100000">
            <a:off x="3941064" y="3584448"/>
            <a:ext cx="310896" cy="310896"/>
          </a:xfrm>
          <a:prstGeom prst="teardrop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4416552" y="35112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Milagres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4416552" y="3867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Ceará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959352" y="416966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em todos os conjuntos ativos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26680" y="3364992"/>
            <a:ext cx="3822192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88900" dist="25400" dir="5400000">
              <a:srgbClr val="7E9899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 rot="8100000">
            <a:off x="7964424" y="3584448"/>
            <a:ext cx="310896" cy="310896"/>
          </a:xfrm>
          <a:prstGeom prst="teardrop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8439912" y="35112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Brejo Santo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8439912" y="3867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Ceará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982712" y="416966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apenas do conjunto de Oftalmologia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703320" y="4901184"/>
            <a:ext cx="3822192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88900" dist="25400" dir="5400000">
              <a:srgbClr val="7E9899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 rot="8100000">
            <a:off x="3941064" y="5120640"/>
            <a:ext cx="310896" cy="310896"/>
          </a:xfrm>
          <a:prstGeom prst="teardrop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4416552" y="50474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Caririaçu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4416552" y="54041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Ceará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959352" y="570585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em todos os conjuntos ativos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726680" y="4901184"/>
            <a:ext cx="3822192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88900" dist="25400" dir="5400000">
              <a:srgbClr val="7E9899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 rot="8100000">
            <a:off x="7964424" y="5120640"/>
            <a:ext cx="310896" cy="310896"/>
          </a:xfrm>
          <a:prstGeom prst="teardrop">
            <a:avLst/>
          </a:prstGeom>
          <a:solidFill>
            <a:srgbClr val="028090"/>
          </a:solidFill>
          <a:ln/>
        </p:spPr>
      </p:sp>
      <p:sp>
        <p:nvSpPr>
          <p:cNvPr id="43" name="Text 41"/>
          <p:cNvSpPr/>
          <p:nvPr/>
        </p:nvSpPr>
        <p:spPr>
          <a:xfrm>
            <a:off x="8439912" y="50474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Farias Brito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8439912" y="54041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Ceará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982712" y="570585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apenas do conjunto de Psiquiatria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" y="641908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Meta Graph API · Conta Clinica da Cidade Juazeiro (act_1443591460581462) · Extração em 06/08/2026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E9F1FE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" y="603504"/>
            <a:ext cx="128016" cy="128016"/>
          </a:xfrm>
          <a:prstGeom prst="ellipse">
            <a:avLst/>
          </a:prstGeom>
          <a:solidFill>
            <a:srgbClr val="1877F2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" y="4754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87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Localizações excluídas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14996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NÃO ESTAMOS IMPACTANDO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993392"/>
            <a:ext cx="2743200" cy="1965960"/>
          </a:xfrm>
          <a:prstGeom prst="roundRect">
            <a:avLst>
              <a:gd name="adj" fmla="val 5581"/>
            </a:avLst>
          </a:prstGeom>
          <a:solidFill>
            <a:srgbClr val="EAF4F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39696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34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68680" y="307238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federativas bloqueadas — todos os estados + DF, exceto o Ceará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142232"/>
            <a:ext cx="2743200" cy="1207008"/>
          </a:xfrm>
          <a:prstGeom prst="roundRect">
            <a:avLst>
              <a:gd name="adj" fmla="val 9091"/>
            </a:avLst>
          </a:prstGeom>
          <a:solidFill>
            <a:srgbClr val="EAF4F4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251960"/>
            <a:ext cx="822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737360" y="4288536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cidades excluídas dentro do Ceará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03320" y="17373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BLOQUEADOS NOS CONJUNTOS ATIVOS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3320" y="2048256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9624" y="2203704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16" name="Text 14"/>
          <p:cNvSpPr/>
          <p:nvPr/>
        </p:nvSpPr>
        <p:spPr>
          <a:xfrm>
            <a:off x="4014216" y="204825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96712" y="2048256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43016" y="2203704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19" name="Text 17"/>
          <p:cNvSpPr/>
          <p:nvPr/>
        </p:nvSpPr>
        <p:spPr>
          <a:xfrm>
            <a:off x="6007608" y="204825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Alagoas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90104" y="2048256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36408" y="2203704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22" name="Text 20"/>
          <p:cNvSpPr/>
          <p:nvPr/>
        </p:nvSpPr>
        <p:spPr>
          <a:xfrm>
            <a:off x="8001000" y="204825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Amapá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83496" y="2048256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29800" y="2203704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25" name="Text 23"/>
          <p:cNvSpPr/>
          <p:nvPr/>
        </p:nvSpPr>
        <p:spPr>
          <a:xfrm>
            <a:off x="9994392" y="204825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Amazonas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703320" y="2532888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9624" y="2688336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28" name="Text 26"/>
          <p:cNvSpPr/>
          <p:nvPr/>
        </p:nvSpPr>
        <p:spPr>
          <a:xfrm>
            <a:off x="4014216" y="253288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96712" y="2532888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43016" y="2688336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31" name="Text 29"/>
          <p:cNvSpPr/>
          <p:nvPr/>
        </p:nvSpPr>
        <p:spPr>
          <a:xfrm>
            <a:off x="6007608" y="253288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Distrito Federal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690104" y="2532888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36408" y="2688336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34" name="Text 32"/>
          <p:cNvSpPr/>
          <p:nvPr/>
        </p:nvSpPr>
        <p:spPr>
          <a:xfrm>
            <a:off x="8001000" y="253288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Espírito Santo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683496" y="2532888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29800" y="2688336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37" name="Text 35"/>
          <p:cNvSpPr/>
          <p:nvPr/>
        </p:nvSpPr>
        <p:spPr>
          <a:xfrm>
            <a:off x="9994392" y="253288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Goiás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703320" y="3017520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9624" y="3172968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40" name="Text 38"/>
          <p:cNvSpPr/>
          <p:nvPr/>
        </p:nvSpPr>
        <p:spPr>
          <a:xfrm>
            <a:off x="4014216" y="301752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Maranhão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96712" y="3017520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43016" y="3172968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43" name="Text 41"/>
          <p:cNvSpPr/>
          <p:nvPr/>
        </p:nvSpPr>
        <p:spPr>
          <a:xfrm>
            <a:off x="6007608" y="301752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 Grosso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690104" y="3017520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36408" y="3172968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46" name="Text 44"/>
          <p:cNvSpPr/>
          <p:nvPr/>
        </p:nvSpPr>
        <p:spPr>
          <a:xfrm>
            <a:off x="8001000" y="301752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 Grosso do Sul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683496" y="3017520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829800" y="3172968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49" name="Text 47"/>
          <p:cNvSpPr/>
          <p:nvPr/>
        </p:nvSpPr>
        <p:spPr>
          <a:xfrm>
            <a:off x="9994392" y="301752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Minas Gerais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703320" y="3502152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49624" y="3657600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52" name="Text 50"/>
          <p:cNvSpPr/>
          <p:nvPr/>
        </p:nvSpPr>
        <p:spPr>
          <a:xfrm>
            <a:off x="4014216" y="3502152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696712" y="3502152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43016" y="3657600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55" name="Text 53"/>
          <p:cNvSpPr/>
          <p:nvPr/>
        </p:nvSpPr>
        <p:spPr>
          <a:xfrm>
            <a:off x="6007608" y="3502152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Paraíba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690104" y="3502152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36408" y="3657600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58" name="Text 56"/>
          <p:cNvSpPr/>
          <p:nvPr/>
        </p:nvSpPr>
        <p:spPr>
          <a:xfrm>
            <a:off x="8001000" y="3502152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Paraná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683496" y="3502152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829800" y="3657600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61" name="Text 59"/>
          <p:cNvSpPr/>
          <p:nvPr/>
        </p:nvSpPr>
        <p:spPr>
          <a:xfrm>
            <a:off x="9994392" y="3502152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Pernambuco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703320" y="3986784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849624" y="4142232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64" name="Text 62"/>
          <p:cNvSpPr/>
          <p:nvPr/>
        </p:nvSpPr>
        <p:spPr>
          <a:xfrm>
            <a:off x="4014216" y="3986784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Piauí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696712" y="3986784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843016" y="4142232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67" name="Text 65"/>
          <p:cNvSpPr/>
          <p:nvPr/>
        </p:nvSpPr>
        <p:spPr>
          <a:xfrm>
            <a:off x="6007608" y="3986784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7690104" y="3986784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836408" y="4142232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70" name="Text 68"/>
          <p:cNvSpPr/>
          <p:nvPr/>
        </p:nvSpPr>
        <p:spPr>
          <a:xfrm>
            <a:off x="8001000" y="3986784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Grande do Norte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9683496" y="3986784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829800" y="4142232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73" name="Text 71"/>
          <p:cNvSpPr/>
          <p:nvPr/>
        </p:nvSpPr>
        <p:spPr>
          <a:xfrm>
            <a:off x="9994392" y="3986784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Grande do Sul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3703320" y="4471416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849624" y="4626864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76" name="Text 74"/>
          <p:cNvSpPr/>
          <p:nvPr/>
        </p:nvSpPr>
        <p:spPr>
          <a:xfrm>
            <a:off x="4014216" y="447141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Rondônia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5696712" y="4471416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843016" y="4626864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79" name="Text 77"/>
          <p:cNvSpPr/>
          <p:nvPr/>
        </p:nvSpPr>
        <p:spPr>
          <a:xfrm>
            <a:off x="6007608" y="447141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Roraima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7690104" y="4471416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836408" y="4626864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82" name="Text 80"/>
          <p:cNvSpPr/>
          <p:nvPr/>
        </p:nvSpPr>
        <p:spPr>
          <a:xfrm>
            <a:off x="8001000" y="447141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Catarina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9683496" y="4471416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829800" y="4626864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85" name="Text 83"/>
          <p:cNvSpPr/>
          <p:nvPr/>
        </p:nvSpPr>
        <p:spPr>
          <a:xfrm>
            <a:off x="9994392" y="447141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3703320" y="4956048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849624" y="5111496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88" name="Text 86"/>
          <p:cNvSpPr/>
          <p:nvPr/>
        </p:nvSpPr>
        <p:spPr>
          <a:xfrm>
            <a:off x="4014216" y="495604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Sergipe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5696712" y="4956048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843016" y="5111496"/>
            <a:ext cx="91440" cy="914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91" name="Text 89"/>
          <p:cNvSpPr/>
          <p:nvPr/>
        </p:nvSpPr>
        <p:spPr>
          <a:xfrm>
            <a:off x="6007608" y="495604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Tocantins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640080" y="5486400"/>
            <a:ext cx="10908792" cy="804672"/>
          </a:xfrm>
          <a:prstGeom prst="roundRect">
            <a:avLst>
              <a:gd name="adj" fmla="val 13636"/>
            </a:avLst>
          </a:prstGeom>
          <a:solidFill>
            <a:srgbClr val="FCF3E3"/>
          </a:solidFill>
          <a:ln/>
        </p:spPr>
      </p:sp>
      <p:sp>
        <p:nvSpPr>
          <p:cNvPr id="93" name="Text 91"/>
          <p:cNvSpPr/>
          <p:nvPr/>
        </p:nvSpPr>
        <p:spPr>
          <a:xfrm>
            <a:off x="914400" y="5486400"/>
            <a:ext cx="10378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8A5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Observações: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conjunto de Oftalmologia é o único sem lista de exclusão (segue restrito às cidades-alvo mesmo assim); e o conjunto de Ginecologia tem 4 exclusões estrangeiras acidentais (Amazonas/VE, Distrito Capital/VE, Irlanda do Norte/GB e Sandy Bay/SH) — sem efeito prático, recomendamos limpar.</a:t>
            </a:r>
            <a:endParaRPr lang="en-US" sz="1150" dirty="0"/>
          </a:p>
        </p:txBody>
      </p:sp>
      <p:sp>
        <p:nvSpPr>
          <p:cNvPr id="94" name="Text 92"/>
          <p:cNvSpPr/>
          <p:nvPr/>
        </p:nvSpPr>
        <p:spPr>
          <a:xfrm>
            <a:off x="640080" y="641908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Meta Graph API · Conta Clinica da Cidade Juazeiro (act_1443591460581462) · Extração em 06/08/2026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" y="608076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608076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" y="608076"/>
            <a:ext cx="100584" cy="100584"/>
          </a:xfrm>
          <a:prstGeom prst="ellipse">
            <a:avLst/>
          </a:prstGeom>
          <a:solidFill>
            <a:srgbClr val="FBBC05"/>
          </a:solidFill>
          <a:ln/>
        </p:spPr>
      </p:sp>
      <p:sp>
        <p:nvSpPr>
          <p:cNvPr id="6" name="Shape 4"/>
          <p:cNvSpPr/>
          <p:nvPr/>
        </p:nvSpPr>
        <p:spPr>
          <a:xfrm>
            <a:off x="1170432" y="608076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7" name="Text 5"/>
          <p:cNvSpPr/>
          <p:nvPr/>
        </p:nvSpPr>
        <p:spPr>
          <a:xfrm>
            <a:off x="1335024" y="4754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Localizações ativas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58368" y="14996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 IMPACTANDO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75120" y="10332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campanhas ativas</a:t>
            </a:r>
            <a:pPr algn="r" indent="0" marL="0">
              <a:buNone/>
            </a:pPr>
            <a:r>
              <a:rPr lang="en-US" sz="13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 Performance Max e 6 de Pesquisa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18745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CIDADES-ALVO DIRETAS · PRESENTES NAS 7 CAMPANHAS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221992"/>
            <a:ext cx="5358384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88900" dist="25400" dir="5400000">
              <a:srgbClr val="7E9899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 rot="8100000">
            <a:off x="877824" y="2395728"/>
            <a:ext cx="310896" cy="310896"/>
          </a:xfrm>
          <a:prstGeom prst="teardrop">
            <a:avLst/>
          </a:prstGeom>
          <a:solidFill>
            <a:srgbClr val="4285F4"/>
          </a:solidFill>
          <a:ln/>
        </p:spPr>
      </p:sp>
      <p:sp>
        <p:nvSpPr>
          <p:cNvPr id="14" name="Text 12"/>
          <p:cNvSpPr/>
          <p:nvPr/>
        </p:nvSpPr>
        <p:spPr>
          <a:xfrm>
            <a:off x="1353312" y="2331720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Juazeiro do Norte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53312" y="2715768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Cidade-sede · alvo principal de todas as campanhas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0488" y="2221992"/>
            <a:ext cx="5358384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88900" dist="25400" dir="5400000">
              <a:srgbClr val="7E9899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 rot="8100000">
            <a:off x="6428232" y="2395728"/>
            <a:ext cx="310896" cy="310896"/>
          </a:xfrm>
          <a:prstGeom prst="teardrop">
            <a:avLst/>
          </a:prstGeom>
          <a:solidFill>
            <a:srgbClr val="4285F4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2331720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Brejo Santo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903720" y="2715768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outro município com alvo direto por cidade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346557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POR RAIO DE PROXIMIDADE · CÍRCULOS DE 5 A 15 KM AO REDOR DE: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813048"/>
            <a:ext cx="2084832" cy="1170432"/>
          </a:xfrm>
          <a:prstGeom prst="roundRect">
            <a:avLst>
              <a:gd name="adj" fmla="val 9375"/>
            </a:avLst>
          </a:prstGeom>
          <a:solidFill>
            <a:srgbClr val="EAF4F4"/>
          </a:solidFill>
          <a:ln/>
        </p:spPr>
      </p:sp>
      <p:sp>
        <p:nvSpPr>
          <p:cNvPr id="22" name="Shape 20"/>
          <p:cNvSpPr/>
          <p:nvPr/>
        </p:nvSpPr>
        <p:spPr>
          <a:xfrm rot="8100000">
            <a:off x="822960" y="3977640"/>
            <a:ext cx="274320" cy="274320"/>
          </a:xfrm>
          <a:prstGeom prst="teardrop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28853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Crato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46177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raios de 10–15 km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871216" y="3813048"/>
            <a:ext cx="2084832" cy="1170432"/>
          </a:xfrm>
          <a:prstGeom prst="roundRect">
            <a:avLst>
              <a:gd name="adj" fmla="val 9375"/>
            </a:avLst>
          </a:prstGeom>
          <a:solidFill>
            <a:srgbClr val="EAF4F4"/>
          </a:solidFill>
          <a:ln/>
        </p:spPr>
      </p:sp>
      <p:sp>
        <p:nvSpPr>
          <p:cNvPr id="26" name="Shape 24"/>
          <p:cNvSpPr/>
          <p:nvPr/>
        </p:nvSpPr>
        <p:spPr>
          <a:xfrm rot="8100000">
            <a:off x="3054096" y="3977640"/>
            <a:ext cx="274320" cy="274320"/>
          </a:xfrm>
          <a:prstGeom prst="teardrop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3054096" y="428853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Barbalha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054096" y="46177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raios de 10–15 km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102352" y="3813048"/>
            <a:ext cx="2084832" cy="1170432"/>
          </a:xfrm>
          <a:prstGeom prst="roundRect">
            <a:avLst>
              <a:gd name="adj" fmla="val 9375"/>
            </a:avLst>
          </a:prstGeom>
          <a:solidFill>
            <a:srgbClr val="EAF4F4"/>
          </a:solidFill>
          <a:ln/>
        </p:spPr>
      </p:sp>
      <p:sp>
        <p:nvSpPr>
          <p:cNvPr id="30" name="Shape 28"/>
          <p:cNvSpPr/>
          <p:nvPr/>
        </p:nvSpPr>
        <p:spPr>
          <a:xfrm rot="8100000">
            <a:off x="5285232" y="3977640"/>
            <a:ext cx="274320" cy="274320"/>
          </a:xfrm>
          <a:prstGeom prst="teardrop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5285232" y="428853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 Velha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285232" y="46177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raios de 10–15 km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333488" y="3813048"/>
            <a:ext cx="2084832" cy="1170432"/>
          </a:xfrm>
          <a:prstGeom prst="roundRect">
            <a:avLst>
              <a:gd name="adj" fmla="val 9375"/>
            </a:avLst>
          </a:prstGeom>
          <a:solidFill>
            <a:srgbClr val="EAF4F4"/>
          </a:solidFill>
          <a:ln/>
        </p:spPr>
      </p:sp>
      <p:sp>
        <p:nvSpPr>
          <p:cNvPr id="34" name="Shape 32"/>
          <p:cNvSpPr/>
          <p:nvPr/>
        </p:nvSpPr>
        <p:spPr>
          <a:xfrm rot="8100000">
            <a:off x="7516368" y="3977640"/>
            <a:ext cx="274320" cy="274320"/>
          </a:xfrm>
          <a:prstGeom prst="teardrop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7516368" y="428853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Caririaçu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516368" y="46177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raios de 5–15 km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564624" y="3813048"/>
            <a:ext cx="2084832" cy="1170432"/>
          </a:xfrm>
          <a:prstGeom prst="roundRect">
            <a:avLst>
              <a:gd name="adj" fmla="val 9375"/>
            </a:avLst>
          </a:prstGeom>
          <a:solidFill>
            <a:srgbClr val="EAF4F4"/>
          </a:solidFill>
          <a:ln/>
        </p:spPr>
      </p:sp>
      <p:sp>
        <p:nvSpPr>
          <p:cNvPr id="38" name="Shape 36"/>
          <p:cNvSpPr/>
          <p:nvPr/>
        </p:nvSpPr>
        <p:spPr>
          <a:xfrm rot="8100000">
            <a:off x="9747504" y="3977640"/>
            <a:ext cx="274320" cy="274320"/>
          </a:xfrm>
          <a:prstGeom prst="teardrop">
            <a:avLst/>
          </a:prstGeom>
          <a:solidFill>
            <a:srgbClr val="028090"/>
          </a:solidFill>
          <a:ln/>
        </p:spPr>
      </p:sp>
      <p:sp>
        <p:nvSpPr>
          <p:cNvPr id="39" name="Text 37"/>
          <p:cNvSpPr/>
          <p:nvPr/>
        </p:nvSpPr>
        <p:spPr>
          <a:xfrm>
            <a:off x="9747504" y="428853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Farias Brito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9747504" y="46177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raios de 6–15 km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" y="5294376"/>
            <a:ext cx="10908792" cy="868680"/>
          </a:xfrm>
          <a:prstGeom prst="roundRect">
            <a:avLst>
              <a:gd name="adj" fmla="val 12632"/>
            </a:avLst>
          </a:prstGeom>
          <a:solidFill>
            <a:srgbClr val="EAF4F4"/>
          </a:solidFill>
          <a:ln/>
        </p:spPr>
      </p:sp>
      <p:sp>
        <p:nvSpPr>
          <p:cNvPr id="42" name="Shape 40"/>
          <p:cNvSpPr/>
          <p:nvPr/>
        </p:nvSpPr>
        <p:spPr>
          <a:xfrm rot="8100000">
            <a:off x="932688" y="5532120"/>
            <a:ext cx="384048" cy="384048"/>
          </a:xfrm>
          <a:prstGeom prst="teardrop">
            <a:avLst/>
          </a:prstGeom>
          <a:solidFill>
            <a:srgbClr val="02C39A"/>
          </a:solidFill>
          <a:ln/>
        </p:spPr>
      </p:sp>
      <p:sp>
        <p:nvSpPr>
          <p:cNvPr id="43" name="Text 41"/>
          <p:cNvSpPr/>
          <p:nvPr/>
        </p:nvSpPr>
        <p:spPr>
          <a:xfrm>
            <a:off x="1517904" y="5294376"/>
            <a:ext cx="9829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da cobertura: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7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direto nas duas maiores praças + anéis de 5 a 15 km ao redor dos demais municípios — o investimento fica 100% concentrado no coração do Cariri.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40080" y="641908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Google Ads API · Conta CDC - Juazeiro do Norte (154-455-7293) · Extração em 06/08/2026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3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A4A52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" y="608076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608076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" y="608076"/>
            <a:ext cx="100584" cy="100584"/>
          </a:xfrm>
          <a:prstGeom prst="ellipse">
            <a:avLst/>
          </a:prstGeom>
          <a:solidFill>
            <a:srgbClr val="FBBC05"/>
          </a:solidFill>
          <a:ln/>
        </p:spPr>
      </p:sp>
      <p:sp>
        <p:nvSpPr>
          <p:cNvPr id="6" name="Shape 4"/>
          <p:cNvSpPr/>
          <p:nvPr/>
        </p:nvSpPr>
        <p:spPr>
          <a:xfrm>
            <a:off x="1170432" y="608076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7" name="Text 5"/>
          <p:cNvSpPr/>
          <p:nvPr/>
        </p:nvSpPr>
        <p:spPr>
          <a:xfrm>
            <a:off x="1335024" y="4754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Localizações excluídas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58368" y="14996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NÃO ESTAMOS IMPACTANDO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1993392"/>
            <a:ext cx="2743200" cy="1965960"/>
          </a:xfrm>
          <a:prstGeom prst="roundRect">
            <a:avLst>
              <a:gd name="adj" fmla="val 5581"/>
            </a:avLst>
          </a:prstGeom>
          <a:solidFill>
            <a:srgbClr val="0A4A5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39696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68680" y="307238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federativas bloqueadas em todas as 7 campanhas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142232"/>
            <a:ext cx="2743200" cy="1207008"/>
          </a:xfrm>
          <a:prstGeom prst="roundRect">
            <a:avLst>
              <a:gd name="adj" fmla="val 9091"/>
            </a:avLst>
          </a:prstGeom>
          <a:solidFill>
            <a:srgbClr val="0A4A5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251960"/>
            <a:ext cx="822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1737360" y="4288536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cidades excluídas pontualmente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03320" y="17373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BLOQUEADOS NAS 7 CAMPANHAS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03320" y="2048256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9624" y="2203704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9" name="Text 17"/>
          <p:cNvSpPr/>
          <p:nvPr/>
        </p:nvSpPr>
        <p:spPr>
          <a:xfrm>
            <a:off x="4014216" y="204825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96712" y="2048256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21" name="Shape 19"/>
          <p:cNvSpPr/>
          <p:nvPr/>
        </p:nvSpPr>
        <p:spPr>
          <a:xfrm>
            <a:off x="5843016" y="2203704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22" name="Text 20"/>
          <p:cNvSpPr/>
          <p:nvPr/>
        </p:nvSpPr>
        <p:spPr>
          <a:xfrm>
            <a:off x="6007608" y="204825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Alagoas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690104" y="2048256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24" name="Shape 22"/>
          <p:cNvSpPr/>
          <p:nvPr/>
        </p:nvSpPr>
        <p:spPr>
          <a:xfrm>
            <a:off x="7836408" y="2203704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0" y="204825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Amapá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683496" y="2048256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27" name="Shape 25"/>
          <p:cNvSpPr/>
          <p:nvPr/>
        </p:nvSpPr>
        <p:spPr>
          <a:xfrm>
            <a:off x="9829800" y="2203704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28" name="Text 26"/>
          <p:cNvSpPr/>
          <p:nvPr/>
        </p:nvSpPr>
        <p:spPr>
          <a:xfrm>
            <a:off x="9994392" y="204825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703320" y="2532888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30" name="Shape 28"/>
          <p:cNvSpPr/>
          <p:nvPr/>
        </p:nvSpPr>
        <p:spPr>
          <a:xfrm>
            <a:off x="3849624" y="2688336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31" name="Text 29"/>
          <p:cNvSpPr/>
          <p:nvPr/>
        </p:nvSpPr>
        <p:spPr>
          <a:xfrm>
            <a:off x="4014216" y="253288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96712" y="2532888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33" name="Shape 31"/>
          <p:cNvSpPr/>
          <p:nvPr/>
        </p:nvSpPr>
        <p:spPr>
          <a:xfrm>
            <a:off x="5843016" y="2688336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34" name="Text 32"/>
          <p:cNvSpPr/>
          <p:nvPr/>
        </p:nvSpPr>
        <p:spPr>
          <a:xfrm>
            <a:off x="6007608" y="253288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Distrito Federal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690104" y="2532888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36" name="Shape 34"/>
          <p:cNvSpPr/>
          <p:nvPr/>
        </p:nvSpPr>
        <p:spPr>
          <a:xfrm>
            <a:off x="7836408" y="2688336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37" name="Text 35"/>
          <p:cNvSpPr/>
          <p:nvPr/>
        </p:nvSpPr>
        <p:spPr>
          <a:xfrm>
            <a:off x="8001000" y="253288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Espírito Santo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683496" y="2532888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39" name="Shape 37"/>
          <p:cNvSpPr/>
          <p:nvPr/>
        </p:nvSpPr>
        <p:spPr>
          <a:xfrm>
            <a:off x="9829800" y="2688336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0" name="Text 38"/>
          <p:cNvSpPr/>
          <p:nvPr/>
        </p:nvSpPr>
        <p:spPr>
          <a:xfrm>
            <a:off x="9994392" y="253288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Goiás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703320" y="3017520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42" name="Shape 40"/>
          <p:cNvSpPr/>
          <p:nvPr/>
        </p:nvSpPr>
        <p:spPr>
          <a:xfrm>
            <a:off x="3849624" y="3172968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3" name="Text 41"/>
          <p:cNvSpPr/>
          <p:nvPr/>
        </p:nvSpPr>
        <p:spPr>
          <a:xfrm>
            <a:off x="4014216" y="301752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Maranhão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696712" y="3017520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45" name="Shape 43"/>
          <p:cNvSpPr/>
          <p:nvPr/>
        </p:nvSpPr>
        <p:spPr>
          <a:xfrm>
            <a:off x="5843016" y="3172968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6" name="Text 44"/>
          <p:cNvSpPr/>
          <p:nvPr/>
        </p:nvSpPr>
        <p:spPr>
          <a:xfrm>
            <a:off x="6007608" y="301752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 Grosso do Sul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690104" y="3017520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48" name="Shape 46"/>
          <p:cNvSpPr/>
          <p:nvPr/>
        </p:nvSpPr>
        <p:spPr>
          <a:xfrm>
            <a:off x="7836408" y="3172968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9" name="Text 47"/>
          <p:cNvSpPr/>
          <p:nvPr/>
        </p:nvSpPr>
        <p:spPr>
          <a:xfrm>
            <a:off x="8001000" y="301752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Minas Gerais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683496" y="3017520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51" name="Shape 49"/>
          <p:cNvSpPr/>
          <p:nvPr/>
        </p:nvSpPr>
        <p:spPr>
          <a:xfrm>
            <a:off x="9829800" y="3172968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52" name="Text 50"/>
          <p:cNvSpPr/>
          <p:nvPr/>
        </p:nvSpPr>
        <p:spPr>
          <a:xfrm>
            <a:off x="9994392" y="301752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703320" y="3502152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54" name="Shape 52"/>
          <p:cNvSpPr/>
          <p:nvPr/>
        </p:nvSpPr>
        <p:spPr>
          <a:xfrm>
            <a:off x="3849624" y="3657600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55" name="Text 53"/>
          <p:cNvSpPr/>
          <p:nvPr/>
        </p:nvSpPr>
        <p:spPr>
          <a:xfrm>
            <a:off x="4014216" y="3502152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Paraíba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696712" y="3502152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57" name="Shape 55"/>
          <p:cNvSpPr/>
          <p:nvPr/>
        </p:nvSpPr>
        <p:spPr>
          <a:xfrm>
            <a:off x="5843016" y="3657600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58" name="Text 56"/>
          <p:cNvSpPr/>
          <p:nvPr/>
        </p:nvSpPr>
        <p:spPr>
          <a:xfrm>
            <a:off x="6007608" y="3502152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Paraná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690104" y="3502152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60" name="Shape 58"/>
          <p:cNvSpPr/>
          <p:nvPr/>
        </p:nvSpPr>
        <p:spPr>
          <a:xfrm>
            <a:off x="7836408" y="3657600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61" name="Text 59"/>
          <p:cNvSpPr/>
          <p:nvPr/>
        </p:nvSpPr>
        <p:spPr>
          <a:xfrm>
            <a:off x="8001000" y="3502152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Pernambuco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9683496" y="3502152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63" name="Shape 61"/>
          <p:cNvSpPr/>
          <p:nvPr/>
        </p:nvSpPr>
        <p:spPr>
          <a:xfrm>
            <a:off x="9829800" y="3657600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64" name="Text 62"/>
          <p:cNvSpPr/>
          <p:nvPr/>
        </p:nvSpPr>
        <p:spPr>
          <a:xfrm>
            <a:off x="9994392" y="3502152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Piauí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3703320" y="3986784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66" name="Shape 64"/>
          <p:cNvSpPr/>
          <p:nvPr/>
        </p:nvSpPr>
        <p:spPr>
          <a:xfrm>
            <a:off x="3849624" y="4142232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67" name="Text 65"/>
          <p:cNvSpPr/>
          <p:nvPr/>
        </p:nvSpPr>
        <p:spPr>
          <a:xfrm>
            <a:off x="4014216" y="3986784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696712" y="3986784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69" name="Shape 67"/>
          <p:cNvSpPr/>
          <p:nvPr/>
        </p:nvSpPr>
        <p:spPr>
          <a:xfrm>
            <a:off x="5843016" y="4142232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70" name="Text 68"/>
          <p:cNvSpPr/>
          <p:nvPr/>
        </p:nvSpPr>
        <p:spPr>
          <a:xfrm>
            <a:off x="6007608" y="3986784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Grande do Norte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7690104" y="3986784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72" name="Shape 70"/>
          <p:cNvSpPr/>
          <p:nvPr/>
        </p:nvSpPr>
        <p:spPr>
          <a:xfrm>
            <a:off x="7836408" y="4142232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73" name="Text 71"/>
          <p:cNvSpPr/>
          <p:nvPr/>
        </p:nvSpPr>
        <p:spPr>
          <a:xfrm>
            <a:off x="8001000" y="3986784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Grande do Sul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9683496" y="3986784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75" name="Shape 73"/>
          <p:cNvSpPr/>
          <p:nvPr/>
        </p:nvSpPr>
        <p:spPr>
          <a:xfrm>
            <a:off x="9829800" y="4142232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76" name="Text 74"/>
          <p:cNvSpPr/>
          <p:nvPr/>
        </p:nvSpPr>
        <p:spPr>
          <a:xfrm>
            <a:off x="9994392" y="3986784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Rondônia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3703320" y="4471416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9624" y="4626864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79" name="Text 77"/>
          <p:cNvSpPr/>
          <p:nvPr/>
        </p:nvSpPr>
        <p:spPr>
          <a:xfrm>
            <a:off x="4014216" y="447141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Roraima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5696712" y="4471416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81" name="Shape 79"/>
          <p:cNvSpPr/>
          <p:nvPr/>
        </p:nvSpPr>
        <p:spPr>
          <a:xfrm>
            <a:off x="5843016" y="4626864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82" name="Text 80"/>
          <p:cNvSpPr/>
          <p:nvPr/>
        </p:nvSpPr>
        <p:spPr>
          <a:xfrm>
            <a:off x="6007608" y="447141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Catarina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7690104" y="4471416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84" name="Shape 82"/>
          <p:cNvSpPr/>
          <p:nvPr/>
        </p:nvSpPr>
        <p:spPr>
          <a:xfrm>
            <a:off x="7836408" y="4626864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85" name="Text 83"/>
          <p:cNvSpPr/>
          <p:nvPr/>
        </p:nvSpPr>
        <p:spPr>
          <a:xfrm>
            <a:off x="8001000" y="447141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9683496" y="4471416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87" name="Shape 85"/>
          <p:cNvSpPr/>
          <p:nvPr/>
        </p:nvSpPr>
        <p:spPr>
          <a:xfrm>
            <a:off x="9829800" y="4626864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88" name="Text 86"/>
          <p:cNvSpPr/>
          <p:nvPr/>
        </p:nvSpPr>
        <p:spPr>
          <a:xfrm>
            <a:off x="9994392" y="447141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Sergipe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3703320" y="4956048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07424A"/>
          </a:solidFill>
          <a:ln/>
        </p:spPr>
      </p:sp>
      <p:sp>
        <p:nvSpPr>
          <p:cNvPr id="90" name="Shape 88"/>
          <p:cNvSpPr/>
          <p:nvPr/>
        </p:nvSpPr>
        <p:spPr>
          <a:xfrm>
            <a:off x="3849624" y="5111496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1" name="Text 89"/>
          <p:cNvSpPr/>
          <p:nvPr/>
        </p:nvSpPr>
        <p:spPr>
          <a:xfrm>
            <a:off x="4014216" y="495604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Tocantins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640080" y="5486400"/>
            <a:ext cx="10908792" cy="804672"/>
          </a:xfrm>
          <a:prstGeom prst="roundRect">
            <a:avLst>
              <a:gd name="adj" fmla="val 13636"/>
            </a:avLst>
          </a:prstGeom>
          <a:solidFill>
            <a:srgbClr val="0A4A52"/>
          </a:solidFill>
          <a:ln/>
        </p:spPr>
      </p:sp>
      <p:sp>
        <p:nvSpPr>
          <p:cNvPr id="93" name="Text 91"/>
          <p:cNvSpPr/>
          <p:nvPr/>
        </p:nvSpPr>
        <p:spPr>
          <a:xfrm>
            <a:off x="914400" y="55778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CIDADES EXCLUÍDAS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2697480" y="5669280"/>
            <a:ext cx="1517904" cy="438912"/>
          </a:xfrm>
          <a:prstGeom prst="roundRect">
            <a:avLst>
              <a:gd name="adj" fmla="val 50000"/>
            </a:avLst>
          </a:prstGeom>
          <a:solidFill>
            <a:srgbClr val="03363D"/>
          </a:solidFill>
          <a:ln w="12700">
            <a:solidFill>
              <a:srgbClr val="1C5C6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834640" y="5843016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6" name="Text 94"/>
          <p:cNvSpPr/>
          <p:nvPr/>
        </p:nvSpPr>
        <p:spPr>
          <a:xfrm>
            <a:off x="2990088" y="56692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Manaus/AM</a:t>
            </a:r>
            <a:endParaRPr lang="en-US" sz="1050" dirty="0"/>
          </a:p>
        </p:txBody>
      </p:sp>
      <p:sp>
        <p:nvSpPr>
          <p:cNvPr id="97" name="Shape 95"/>
          <p:cNvSpPr/>
          <p:nvPr/>
        </p:nvSpPr>
        <p:spPr>
          <a:xfrm>
            <a:off x="4325112" y="5669280"/>
            <a:ext cx="1517904" cy="438912"/>
          </a:xfrm>
          <a:prstGeom prst="roundRect">
            <a:avLst>
              <a:gd name="adj" fmla="val 50000"/>
            </a:avLst>
          </a:prstGeom>
          <a:solidFill>
            <a:srgbClr val="03363D"/>
          </a:solidFill>
          <a:ln w="12700">
            <a:solidFill>
              <a:srgbClr val="1C5C6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462272" y="5843016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9" name="Text 97"/>
          <p:cNvSpPr/>
          <p:nvPr/>
        </p:nvSpPr>
        <p:spPr>
          <a:xfrm>
            <a:off x="4617720" y="56692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Belém/PA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5952744" y="5669280"/>
            <a:ext cx="1517904" cy="438912"/>
          </a:xfrm>
          <a:prstGeom prst="roundRect">
            <a:avLst>
              <a:gd name="adj" fmla="val 50000"/>
            </a:avLst>
          </a:prstGeom>
          <a:solidFill>
            <a:srgbClr val="03363D"/>
          </a:solidFill>
          <a:ln w="12700">
            <a:solidFill>
              <a:srgbClr val="1C5C6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089904" y="5843016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02" name="Text 100"/>
          <p:cNvSpPr/>
          <p:nvPr/>
        </p:nvSpPr>
        <p:spPr>
          <a:xfrm>
            <a:off x="6245352" y="56692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Mauriti/CE</a:t>
            </a:r>
            <a:endParaRPr lang="en-US" sz="1050" dirty="0"/>
          </a:p>
        </p:txBody>
      </p:sp>
      <p:sp>
        <p:nvSpPr>
          <p:cNvPr id="103" name="Text 101"/>
          <p:cNvSpPr/>
          <p:nvPr/>
        </p:nvSpPr>
        <p:spPr>
          <a:xfrm>
            <a:off x="7726680" y="5486400"/>
            <a:ext cx="3703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B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 Grosso é o único estado fora da lista — sem efeito prático (a cobertura é por cidade e raio), mas vale padronizar.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640080" y="641908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Google Ads API · Conta CDC - Juazeiro do Norte (154-455-7293) · Extração em 06/08/2026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2026-08-06T15:13:33Z</dcterms:created>
  <dcterms:modified xsi:type="dcterms:W3CDTF">2026-08-06T15:13:33Z</dcterms:modified>
</cp:coreProperties>
</file>